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1038" y="-1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unch-16/docsen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DocSense: Semantic Document QA using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  <a:defRPr sz="2200"/>
            </a:pPr>
            <a:r>
              <a:rPr lang="en-US" b="1" dirty="0"/>
              <a:t>Group 14</a:t>
            </a:r>
          </a:p>
          <a:p>
            <a:pPr marL="0" indent="0" algn="ctr">
              <a:buNone/>
              <a:defRPr sz="2200"/>
            </a:pPr>
            <a:r>
              <a:rPr lang="en-US" dirty="0" err="1"/>
              <a:t>Sriyashveer</a:t>
            </a:r>
            <a:r>
              <a:rPr lang="en-US" dirty="0"/>
              <a:t> Reddy </a:t>
            </a:r>
            <a:r>
              <a:rPr lang="en-US" dirty="0" err="1"/>
              <a:t>Pulapalli</a:t>
            </a:r>
            <a:endParaRPr lang="en-US" dirty="0"/>
          </a:p>
          <a:p>
            <a:pPr marL="0" indent="0" algn="ctr">
              <a:buNone/>
              <a:defRPr sz="2200"/>
            </a:pPr>
            <a:r>
              <a:rPr lang="en-US" dirty="0"/>
              <a:t>Sai Varun </a:t>
            </a:r>
            <a:r>
              <a:rPr lang="en-US" dirty="0" err="1"/>
              <a:t>Chetrypally</a:t>
            </a:r>
            <a:endParaRPr lang="en-US" dirty="0"/>
          </a:p>
          <a:p>
            <a:pPr marL="0" indent="0" algn="ctr">
              <a:buNone/>
              <a:defRPr sz="2200"/>
            </a:pPr>
            <a:r>
              <a:rPr lang="en-US" dirty="0"/>
              <a:t>Rishitha Challa</a:t>
            </a:r>
          </a:p>
          <a:p>
            <a:pPr marL="0" indent="0" algn="ctr">
              <a:buNone/>
              <a:defRPr sz="2200"/>
            </a:pPr>
            <a:endParaRPr lang="en-US" dirty="0"/>
          </a:p>
          <a:p>
            <a:pPr marL="0" indent="0" algn="ctr">
              <a:buNone/>
              <a:defRPr sz="2200"/>
            </a:pPr>
            <a:r>
              <a:rPr lang="en-US" dirty="0"/>
              <a:t>Youngstown State University</a:t>
            </a:r>
          </a:p>
          <a:p>
            <a:pPr marL="0" indent="0" algn="ctr">
              <a:buNone/>
              <a:defRPr sz="2200"/>
            </a:pPr>
            <a:r>
              <a:rPr lang="en-US" b="1" dirty="0"/>
              <a:t>Faculty Coach</a:t>
            </a:r>
          </a:p>
          <a:p>
            <a:pPr marL="0" indent="0" algn="ctr">
              <a:buNone/>
              <a:defRPr sz="2200"/>
            </a:pPr>
            <a:r>
              <a:rPr lang="en-US" dirty="0"/>
              <a:t>Dr. Feng George Y</a:t>
            </a:r>
          </a:p>
          <a:p>
            <a:pPr marL="0" indent="0" algn="ctr">
              <a:buNone/>
              <a:defRPr sz="2200"/>
            </a:pPr>
            <a:endParaRPr dirty="0"/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Large documents are hard to search manually</a:t>
            </a:r>
          </a:p>
          <a:p>
            <a:pPr>
              <a:defRPr sz="2200"/>
            </a:pPr>
            <a:r>
              <a:t>Keyword search lacks semantic understanding</a:t>
            </a:r>
          </a:p>
          <a:p>
            <a:pPr>
              <a:defRPr sz="2200"/>
            </a:pPr>
            <a:r>
              <a:t>Need intelligent document querying system</a:t>
            </a:r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87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Embeddings: Convert text into numerical vectors </a:t>
            </a:r>
          </a:p>
          <a:p>
            <a:pPr>
              <a:defRPr sz="2200"/>
            </a:pPr>
            <a:r>
              <a:rPr lang="en-US" dirty="0"/>
              <a:t>Vector Databases: Store and search embeddings efficiently </a:t>
            </a:r>
          </a:p>
          <a:p>
            <a:pPr>
              <a:defRPr sz="2200"/>
            </a:pPr>
            <a:r>
              <a:rPr lang="en-US" dirty="0"/>
              <a:t>Semantic Search: Finds meaning, not exact words </a:t>
            </a:r>
          </a:p>
          <a:p>
            <a:pPr>
              <a:defRPr sz="2200"/>
            </a:pPr>
            <a:r>
              <a:rPr lang="en-US" dirty="0"/>
              <a:t>RAG (Retrieval-Augmented Generation): </a:t>
            </a:r>
          </a:p>
          <a:p>
            <a:pPr marL="0" indent="0">
              <a:buNone/>
              <a:defRPr sz="2200"/>
            </a:pPr>
            <a:r>
              <a:rPr lang="en-US" dirty="0"/>
              <a:t>                  Retrieval → find relevant text </a:t>
            </a:r>
          </a:p>
          <a:p>
            <a:pPr marL="0" indent="0">
              <a:buNone/>
              <a:defRPr sz="2200"/>
            </a:pPr>
            <a:r>
              <a:rPr lang="en-US" dirty="0"/>
              <a:t>                  Generation → produce final answer</a:t>
            </a:r>
          </a:p>
          <a:p>
            <a:pPr marL="0" indent="0">
              <a:buNone/>
              <a:defRPr sz="2200"/>
            </a:pPr>
            <a:endParaRPr dirty="0"/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180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Extracting insights from PDFs is difficult</a:t>
            </a:r>
          </a:p>
          <a:p>
            <a:pPr>
              <a:defRPr sz="2200"/>
            </a:pPr>
            <a:r>
              <a:rPr dirty="0"/>
              <a:t>Keyword search fails with different phrasing</a:t>
            </a:r>
          </a:p>
          <a:p>
            <a:pPr>
              <a:defRPr sz="2200"/>
            </a:pPr>
            <a:r>
              <a:rPr dirty="0"/>
              <a:t>Need scalable QA system</a:t>
            </a:r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87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181" y="5410328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DF538-E5A3-7F8D-DBDE-8BF4957A5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9956"/>
            <a:ext cx="8229600" cy="48162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Basic RAG Pipeline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The diagram illustrates a data processing flow, starting with document ingestion, followed by chunking, embedding, indexing, retrieval, synthesis, and finally, response generation using a top K query and LLM (Large Language Model).&#10;&#10;.">
            <a:extLst>
              <a:ext uri="{FF2B5EF4-FFF2-40B4-BE49-F238E27FC236}">
                <a16:creationId xmlns:a16="http://schemas.microsoft.com/office/drawing/2014/main" id="{62D3BA40-D28D-0AA2-0BD5-AE136BF0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34284"/>
            <a:ext cx="8229600" cy="3267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7" name="Content Placeholder 6" descr="The image illustrates a FastAPI backend architecture that integrates semantic representations, query APIs, and vector search, utilizing technologies such as Sentence Transformers, ChromaDB, and LLM-based generation for processing and delivering final answers.&#10;&#10;">
            <a:extLst>
              <a:ext uri="{FF2B5EF4-FFF2-40B4-BE49-F238E27FC236}">
                <a16:creationId xmlns:a16="http://schemas.microsoft.com/office/drawing/2014/main" id="{0489D39C-56B0-495A-2633-D47A99B01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240"/>
          <a:stretch>
            <a:fillRect/>
          </a:stretch>
        </p:blipFill>
        <p:spPr>
          <a:xfrm>
            <a:off x="519885" y="1184491"/>
            <a:ext cx="7992129" cy="4363554"/>
          </a:xfrm>
          <a:prstGeom prst="rect">
            <a:avLst/>
          </a:prstGeom>
        </p:spPr>
      </p:pic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601" y="5410328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410328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42810C2-946B-6946-AA11-4772AA44FC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5993" y="1459846"/>
            <a:ext cx="744607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Tested system using multiple PDF documents of varying size and content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Evaluated semantic retrieval using different 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Compared performance using different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top_k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values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(2, 3, 5)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Measured relevance of retrieved chunks based on query intent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1955"/>
          </a:xfrm>
        </p:spPr>
        <p:txBody>
          <a:bodyPr>
            <a:normAutofit fontScale="90000"/>
          </a:bodyPr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562" y="883579"/>
            <a:ext cx="7916238" cy="1305602"/>
          </a:xfrm>
        </p:spPr>
        <p:txBody>
          <a:bodyPr>
            <a:normAutofit/>
          </a:bodyPr>
          <a:lstStyle/>
          <a:p>
            <a:r>
              <a:rPr lang="en-US" sz="2200" dirty="0"/>
              <a:t>System successfully retrieves semantically relevant information</a:t>
            </a:r>
          </a:p>
          <a:p>
            <a:r>
              <a:rPr lang="en-US" sz="2200" dirty="0"/>
              <a:t>Performs better than traditional keyword-based search </a:t>
            </a:r>
          </a:p>
          <a:p>
            <a:r>
              <a:rPr lang="en-US" sz="2200" dirty="0"/>
              <a:t>Handles variation in query phrasing effectively </a:t>
            </a:r>
          </a:p>
          <a:p>
            <a:pPr>
              <a:defRPr sz="2200"/>
            </a:pPr>
            <a:endParaRPr sz="2200" dirty="0"/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13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  <p:pic>
        <p:nvPicPr>
          <p:cNvPr id="7" name="Picture 6" descr="Artificial Intelligence in Information Systems State of the Art.pdf&#10;&#10;AI-generated content may be incorrect.">
            <a:extLst>
              <a:ext uri="{FF2B5EF4-FFF2-40B4-BE49-F238E27FC236}">
                <a16:creationId xmlns:a16="http://schemas.microsoft.com/office/drawing/2014/main" id="{47908176-E7FA-A05A-2A01-2E906BFD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62" y="2189180"/>
            <a:ext cx="3673604" cy="3178885"/>
          </a:xfrm>
          <a:prstGeom prst="rect">
            <a:avLst/>
          </a:prstGeom>
        </p:spPr>
      </p:pic>
      <p:pic>
        <p:nvPicPr>
          <p:cNvPr id="9" name="Picture 8" descr="Artificial Intelligence in Information Systems State of the Art.&#10;&#10;AI-generated content may be incorrect.">
            <a:extLst>
              <a:ext uri="{FF2B5EF4-FFF2-40B4-BE49-F238E27FC236}">
                <a16:creationId xmlns:a16="http://schemas.microsoft.com/office/drawing/2014/main" id="{6DB66628-89ED-6134-1B5D-D73E2A5FC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89181"/>
            <a:ext cx="3986966" cy="31788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F68D-51A2-456C-ABD4-FA3D93F6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8EB8-90D4-D1A1-D5E0-24B980EA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19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Limitations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DC254-4EF0-E8A0-36E6-F61AC601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81" y="1034428"/>
            <a:ext cx="7916238" cy="1676742"/>
          </a:xfrm>
        </p:spPr>
        <p:txBody>
          <a:bodyPr>
            <a:normAutofit/>
          </a:bodyPr>
          <a:lstStyle/>
          <a:p>
            <a:r>
              <a:rPr lang="en-US" sz="2200" dirty="0"/>
              <a:t>Retrieval quality depends on chunk size </a:t>
            </a:r>
          </a:p>
          <a:p>
            <a:r>
              <a:rPr lang="en-US" sz="2200" dirty="0"/>
              <a:t>Requires tuning of top_k parameter </a:t>
            </a:r>
          </a:p>
          <a:p>
            <a:r>
              <a:rPr lang="en-US" sz="2200" dirty="0"/>
              <a:t>LLM responses depend on retrieved context</a:t>
            </a:r>
          </a:p>
          <a:p>
            <a:pPr>
              <a:defRPr sz="2200"/>
            </a:pPr>
            <a:endParaRPr sz="2200" dirty="0"/>
          </a:p>
        </p:txBody>
      </p:sp>
      <p:pic>
        <p:nvPicPr>
          <p:cNvPr id="4" name="Picture 3" descr="3788218f-ee2d-4013-af00-71f906aaa406.png">
            <a:extLst>
              <a:ext uri="{FF2B5EF4-FFF2-40B4-BE49-F238E27FC236}">
                <a16:creationId xmlns:a16="http://schemas.microsoft.com/office/drawing/2014/main" id="{6FC31685-64E7-F06A-C459-543837AF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13" y="5409693"/>
            <a:ext cx="822960" cy="899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8C0A41-361E-E84E-D6FD-C94E421A5E78}"/>
              </a:ext>
            </a:extLst>
          </p:cNvPr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D056BE-6BDC-1396-85BC-3CDC1F272AD8}"/>
              </a:ext>
            </a:extLst>
          </p:cNvPr>
          <p:cNvSpPr txBox="1">
            <a:spLocks/>
          </p:cNvSpPr>
          <p:nvPr/>
        </p:nvSpPr>
        <p:spPr>
          <a:xfrm>
            <a:off x="457200" y="2350192"/>
            <a:ext cx="8229600" cy="721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Future works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0A23E7-5DBF-1B53-9074-830C8BD20437}"/>
              </a:ext>
            </a:extLst>
          </p:cNvPr>
          <p:cNvSpPr txBox="1">
            <a:spLocks/>
          </p:cNvSpPr>
          <p:nvPr/>
        </p:nvSpPr>
        <p:spPr>
          <a:xfrm>
            <a:off x="613881" y="3226398"/>
            <a:ext cx="7916238" cy="1676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200"/>
            </a:pPr>
            <a:endParaRPr lang="en-US" sz="2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26A93A-EBB7-D83E-EE6D-E4C3EBAB7F7E}"/>
              </a:ext>
            </a:extLst>
          </p:cNvPr>
          <p:cNvSpPr txBox="1">
            <a:spLocks/>
          </p:cNvSpPr>
          <p:nvPr/>
        </p:nvSpPr>
        <p:spPr>
          <a:xfrm>
            <a:off x="613881" y="3125636"/>
            <a:ext cx="7916238" cy="1676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  <a:p>
            <a:pPr>
              <a:defRPr sz="2200"/>
            </a:pPr>
            <a:endParaRPr lang="en-US" sz="22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A9FD9C-8635-494B-8AB9-80E11AD77FED}"/>
              </a:ext>
            </a:extLst>
          </p:cNvPr>
          <p:cNvSpPr txBox="1">
            <a:spLocks/>
          </p:cNvSpPr>
          <p:nvPr/>
        </p:nvSpPr>
        <p:spPr>
          <a:xfrm>
            <a:off x="578434" y="3285795"/>
            <a:ext cx="8229599" cy="15165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Enable multi-PDF upload and cross-document querying</a:t>
            </a:r>
          </a:p>
          <a:p>
            <a:r>
              <a:rPr lang="en-US" sz="2400" dirty="0"/>
              <a:t>Improve retrieval with dynamic chunking and fine-tuned embeddings</a:t>
            </a:r>
          </a:p>
          <a:p>
            <a:r>
              <a:rPr lang="en-US" sz="2400" dirty="0"/>
              <a:t>Add user feedback system to enhance answer quality</a:t>
            </a:r>
          </a:p>
          <a:p>
            <a:endParaRPr lang="en-US" sz="2200" dirty="0"/>
          </a:p>
          <a:p>
            <a:pPr>
              <a:defRPr sz="2200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5114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2778"/>
          </a:xfrm>
        </p:spPr>
        <p:txBody>
          <a:bodyPr>
            <a:normAutofit fontScale="90000"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54" y="1268246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 dirty="0"/>
              <a:t>Developed a complete RAG-based document QA system </a:t>
            </a:r>
          </a:p>
          <a:p>
            <a:r>
              <a:rPr lang="en-US" sz="2200" dirty="0"/>
              <a:t>Enables natural language interaction with documents </a:t>
            </a:r>
          </a:p>
          <a:p>
            <a:r>
              <a:rPr lang="en-US" sz="2200" dirty="0"/>
              <a:t>Demonstrates effectiveness of semantic search and vector databases </a:t>
            </a:r>
          </a:p>
          <a:p>
            <a:r>
              <a:rPr lang="en-US" sz="2200" dirty="0"/>
              <a:t>Scalable and extensible for real-world applications</a:t>
            </a:r>
          </a:p>
          <a:p>
            <a:pPr>
              <a:defRPr sz="2200"/>
            </a:pPr>
            <a:endParaRPr sz="2200" dirty="0"/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410328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24528"/>
          </a:xfrm>
        </p:spPr>
        <p:txBody>
          <a:bodyPr>
            <a:normAutofit/>
          </a:bodyPr>
          <a:lstStyle/>
          <a:p>
            <a:r>
              <a:rPr lang="en-US" sz="2200" dirty="0" err="1"/>
              <a:t>Sriyashveer</a:t>
            </a:r>
            <a:r>
              <a:rPr lang="en-US" sz="2200" dirty="0"/>
              <a:t> Reddy </a:t>
            </a:r>
            <a:r>
              <a:rPr lang="en-US" sz="2200" dirty="0" err="1"/>
              <a:t>Pulapalli</a:t>
            </a:r>
            <a:r>
              <a:rPr lang="en-US" sz="2200" dirty="0"/>
              <a:t> – Backend &amp; API Development </a:t>
            </a:r>
          </a:p>
          <a:p>
            <a:r>
              <a:rPr lang="en-US" sz="2200" dirty="0"/>
              <a:t>Sai Varun </a:t>
            </a:r>
            <a:r>
              <a:rPr lang="en-US" sz="2200" dirty="0" err="1"/>
              <a:t>Chetrypally</a:t>
            </a:r>
            <a:r>
              <a:rPr lang="en-US" sz="2200" dirty="0"/>
              <a:t> – Parsing &amp; Embedding Pipeline </a:t>
            </a:r>
          </a:p>
          <a:p>
            <a:r>
              <a:rPr lang="en-US" sz="2200" dirty="0"/>
              <a:t>Rishitha Challa – Vector Database &amp; Retrieval System </a:t>
            </a:r>
          </a:p>
          <a:p>
            <a:pPr marL="0" indent="0">
              <a:buNone/>
            </a:pPr>
            <a:r>
              <a:rPr lang="en-US" sz="2200" dirty="0"/>
              <a:t>All members contributed to system integration, testing, and debugging</a:t>
            </a:r>
          </a:p>
        </p:txBody>
      </p:sp>
      <p:pic>
        <p:nvPicPr>
          <p:cNvPr id="4" name="Picture 3" descr="3788218f-ee2d-4013-af00-71f906aaa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59" y="5409693"/>
            <a:ext cx="822960" cy="899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CSCI 6991 Data Engineering 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90BC-DFEC-5493-3A28-2D0A0960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C62F5-671E-AB97-BBE9-D1839357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GitHub Repository: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hlinkClick r:id="rId2"/>
              </a:rPr>
              <a:t>https://github.com/Varunch-16/docsense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Includes:</a:t>
            </a:r>
          </a:p>
          <a:p>
            <a:r>
              <a:rPr lang="en-US" dirty="0"/>
              <a:t>Source code </a:t>
            </a:r>
          </a:p>
          <a:p>
            <a:r>
              <a:rPr lang="en-US" dirty="0"/>
              <a:t>Documentation </a:t>
            </a:r>
          </a:p>
          <a:p>
            <a:r>
              <a:rPr lang="en-US" dirty="0"/>
              <a:t>Test queries and sample outputs</a:t>
            </a:r>
          </a:p>
        </p:txBody>
      </p:sp>
    </p:spTree>
    <p:extLst>
      <p:ext uri="{BB962C8B-B14F-4D97-AF65-F5344CB8AC3E}">
        <p14:creationId xmlns:p14="http://schemas.microsoft.com/office/powerpoint/2010/main" val="139767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362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DocSense: Semantic Document QA using RAG</vt:lpstr>
      <vt:lpstr>Introduction</vt:lpstr>
      <vt:lpstr>Background</vt:lpstr>
      <vt:lpstr>Problem Statement</vt:lpstr>
      <vt:lpstr>Methodology</vt:lpstr>
      <vt:lpstr>System Architecture</vt:lpstr>
      <vt:lpstr>Experiments</vt:lpstr>
      <vt:lpstr>Results</vt:lpstr>
      <vt:lpstr>Limitations</vt:lpstr>
      <vt:lpstr>Conclusion</vt:lpstr>
      <vt:lpstr>Team Contributions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varun chetrypally</cp:lastModifiedBy>
  <cp:revision>21</cp:revision>
  <dcterms:created xsi:type="dcterms:W3CDTF">2013-01-27T09:14:16Z</dcterms:created>
  <dcterms:modified xsi:type="dcterms:W3CDTF">2026-04-16T20:31:12Z</dcterms:modified>
  <cp:category/>
</cp:coreProperties>
</file>